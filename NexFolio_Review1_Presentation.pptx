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293B"/>
                </a:solidFill>
              </a:defRPr>
            </a:pPr>
            <a:r>
              <a:t>NexFolio: An Explainable AI (XAI) Framework for Intelligent Portfolio Risk Profiling, Real-Time Market Analytics, and Institutional Tax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75569"/>
                </a:solidFill>
              </a:defRPr>
            </a:pPr>
            <a:r>
              <a:t>Department of Computer Science and Engineering | CBIT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Presented By: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Madupu Lokesh Reddy - 160122733047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Patil Tejas                   - 160123733321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1206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Project Supervisor: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Mr. Banothu Sai Kumar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Assistant Professor, Dept.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TITLE JUSTIFICATION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“Explainable AI (XAI)”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Replaces opaque 'black-box' predictions with game-theoretic TreeSHAP feature attributions. Translates complex mathematical weights into human-understandable risk drivers.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727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“Portfolio Risk Profiling”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Multi-dimensional evaluation beyond simple P&amp;L using 36 quantitative features across return momentum, annualized volatility, downside semi-variance, Sharpe/Sortino ratios, and market Beta.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“Real-Time Market Analytics”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Decouples sub-millisecond in-memory valuation from heavy analytics using a Dual-Loop architecture and a 5-state Market Data Pedigree state machine (Live, Delayed, Reference).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416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“Institutional Tax Optimization”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Implements native statutory compliance with the new Income-tax Act, 2025 (Tax Year 2026–27), modeling STCG @ 20%, LTCG @ 12.5%, buyback taxation, and an 8-year loss carryforward bank.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</a:defRPr>
            </a:pPr>
            <a:r>
              <a:t>Quantitative Portfolio Management &amp; AI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Modern Portfolio Theory (MPT) &amp; Multi-Factor Models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Exponential growth of retail investors (160M+ Demat accounts)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Shift from simple P&amp;L tracking to risk-adjusted metrics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Supervised ML classification for portfolio risk tiers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Statutory transition to Income-tax Act, 2025 (TY 2026–27)</a:t>
            </a:r>
          </a:p>
        </p:txBody>
      </p:sp>
      <p:pic>
        <p:nvPicPr>
          <p:cNvPr id="5" name="Picture 4" descr="fig1_architecture_flow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Retail Capital Exposure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Black-Box AI Distrust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0040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6616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Budget 2026-27 Tax Overhaul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56616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Cross-Sector Market Volatility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1206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High-Latency System Freezes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5488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1206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Audit &amp; Regulatory Filings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EXPLAINABLE AI &amp; SHAP MECHANISM</a:t>
            </a:r>
          </a:p>
        </p:txBody>
      </p:sp>
      <p:pic>
        <p:nvPicPr>
          <p:cNvPr id="4" name="Picture 3" descr="fig2_shap_mechanism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188720"/>
            <a:ext cx="926561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THE PORTFOLIO RISK &amp; BLACK-BOX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Model Opacity in deep neural networks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High feature multi-collinearity &amp; noise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Inference latency bottlenecks (&gt;40ms)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Outdated 365-day tax approximations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5727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Accuracy vs. Explainability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• Logistic Regression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   Explainable, but Low Accuracy (78.5%)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Deep CNN-LSTM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   Moderate Accuracy, but Black-Box &amp; High Latency (~45ms)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NexFolio (XGBoost + SHAP)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   High Accuracy (97.0%) + Sub-second XAI (&lt;1ms)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103120"/>
                <a:gridCol w="2194560"/>
                <a:gridCol w="2224735"/>
              </a:tblGrid>
              <a:tr h="9509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Methods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Disadvantages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P. Singh et al.</a:t>
                      </a:r>
                      <a:br/>
                      <a:r>
                        <a:t>(IEEE Access)</a:t>
                      </a:r>
                      <a:br/>
                      <a:r>
                        <a:t>[Base Paper]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Harnessing a Hybrid CNN-LSTM Model for Portfolio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CNN-LSTM, spatial feature extraction, temporal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Captures temporal dependencies; multi-scale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Black-box nature; high compute latency (~45ms); no tax math.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I. Aruleba, Y. Sun</a:t>
                      </a:r>
                      <a:br/>
                      <a:r>
                        <a:t>(IEEE Access,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Effective Credit Risk Prediction Using Ensemble Classifiers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Random Forest, XGBoost, TreeSHAP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Ensemble superiority on tabular data; feature explainability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Binary credit focus; lacks multi-class calibration &amp; streaming.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I. Aruleba, Y. Sun</a:t>
                      </a:r>
                      <a:br/>
                      <a:r>
                        <a:t>(IEEE Access,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Improved Ensemble Method With Data Resampling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SMOTE-ENN, Cross-Validation, Stratified Partitioning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Mitigates class imbalance; prevents data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Static dataset focus; lacks live streaming &amp; pedigree fallback.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Vijayanand, Smrithy</a:t>
                      </a:r>
                      <a:br/>
                      <a:r>
                        <a:t>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Explainable AI in Financial Transaction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XGBoost, SHAP, feature attribution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Provides regulatory trust; demystifies model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Limited to fraud detection; no portfolio scoring or tax math.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RESEARCH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Black-Box Risk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TreeSHAP Attribution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54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Sub-second game-theoretic risk drivers for every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Feature Collinearity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5176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Dual L1 + L2 Regularization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Prevents overfitting on correlated ratios, achieving 97%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Analytical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84048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Dual-Loop Engine (&lt;1ms SSE)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931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Decouples live quote streaming from heavy 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Outdated Tax Engines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212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02920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Income-tax Act, 2025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212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20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Exact calendar-month rules, buybacks, and 8-year loss bank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9997135" cy="4389120"/>
          </a:xfrm>
          <a:prstGeom prst="rect">
            <a:avLst/>
          </a:prstGeom>
          <a:solidFill>
            <a:srgbClr val="F1F5F9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2656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1E293B"/>
                </a:solidFill>
              </a:defRPr>
            </a:pPr>
            <a:r>
              <a:t>Modern portfolio platforms fail to provide transparent risk diagnostics, relying on superficial P&amp;L summaries or opaque 'black-box' ML models that lack interpretability, suffer from high latency, and ignore the new Income-tax Act, 2025 regulations.</a:t>
            </a:r>
          </a:p>
          <a:p>
            <a:pPr>
              <a:defRPr sz="1500" b="1">
                <a:solidFill>
                  <a:srgbClr val="4F46E5"/>
                </a:solidFill>
              </a:defRPr>
            </a:pPr>
            <a:r>
              <a:t>Our goal is to design an explainable AI (XAI) framework combining 36-feature quantitative modeling, sub-second TreeSHAP risk attributions, a deterministic 4-pillar health scorecard, sub-millisecond dual-loop valuation, and an institutional tax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8998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Modern portfolio platforms fail to provide transparent risk diagnostics, relying on superficial P&amp;L summaries or opaque 'black-box' ML models that lack interpretability, suffer from high latency, and ignore the new Income-tax Act, 2025 regulations.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931920"/>
            <a:ext cx="9448495" cy="21945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206240"/>
            <a:ext cx="8899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766E"/>
                </a:solidFill>
              </a:defRPr>
            </a:pPr>
            <a:r>
              <a:t>Our goal is to design an explainable AI (XAI) framework combining 36-feature quantitative modeling, sub-second TreeSHAP risk attributions, a deterministic 4-pillar health scorecard, sub-millisecond dual-loop valuation, and an institutional tax suite.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0020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36-Feature Pipeline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Capture return momentum, volatility, downside risk, Beta, and 18 sector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24612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24612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XGBoost &amp; TreeSHAP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Train regularized gradient-boosted trees (&gt;95% accuracy) with sub-second SHAP attributions.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489204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89204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4-Pillar Scorecard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Formulate an inspectable 0–100 score across Diversification, Volatility, Efficiency, and Drawdown.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600200"/>
            <a:ext cx="4343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What-If Sandbox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Enable in-memory trade simulations with instant delta calculations without database writes.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324612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46120"/>
            <a:ext cx="4343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Dual-Loop Engine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Decouple &lt;1ms live quote streaming from slow persistence with a 5-state Pedigree FSM.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548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892040"/>
            <a:ext cx="4343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Statutory Tax Suite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Implement Income-tax Act, 2025 STCG @ 20%, LTCG @ 12.5%, Buybacks, and 8-Year Loss Bank.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Investigate black-box limitations in portfolio risk models and formulate an explainable 36-feature quantitative pipeline.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Develop an institutional ML architecture combining regularized XGBoost with TreeSHAP for sub-second risk attributions.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Formulate a deterministic 4-pillar health scorecard (0–100) and an in-memory What-If trade simulation sandbox.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Implement a Dual-Loop valuation architecture to decouple &lt;1ms live quote streaming from background analytics.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Implement statutory tax compliance for the Income-tax Act, 2025 featuring STCG 20%, LTCG 12.5%, and an 8-year Loss Bank.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[1] P. Singh et al., 'Harnessing a Hybrid CNN-LSTM Model for Portfolio Performance and Risk Management,' IEEE Access, vol. 11, pp. 45120–45132, 2023, doi: 10.1109/ACCESS.2023.3289012.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[2] I. Aruleba and Y. Sun, 'Effective Credit Risk Prediction Using Ensemble Classifiers with Model Explanation,' IEEE Access, vol. 12, pp. 115015–115025, 2024, doi: 10.1109/ACCESS.2024.3445612.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[3] I. Aruleba and Y. Sun, 'Improved Ensemble Method With Data Resampling for Credit Risk Prediction,' IEEE Access, vol. 12, pp. 128940–128952, 2024, doi: 10.1109/ACCESS.2024.3458901.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[4] Vijayanand and Smrithy, 'Explainable AI-Enhanced Ensemble Learning for Financial Fraud Detection in Mobile Money Transactions,' 2024.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[5] S. M. Lundberg and S.-I. Lee, 'A Unified Approach to Interpreting Model Predictions,' in Advances in Neural Information Processing Systems (NeurIPS), 2017.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[6] Ministry of Finance, Government of India, 'The Income-tax Act, 2025 and Union Budget 2026–27 Statutory Provisions,' New Delhi,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293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